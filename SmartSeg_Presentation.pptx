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SmartSeg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C4C0"/>
                </a:solidFill>
                <a:latin typeface="Calibri"/>
              </a:rPr>
              <a:t>Intelligent Customer Segmentation &amp;
Personalized Offer Recommendation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160520"/>
            <a:ext cx="4114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6A8"/>
                </a:solidFill>
                <a:latin typeface="Calibri"/>
              </a:rPr>
              <a:t>AI &amp; Machine Learning  ·  SURE Trust – IERY  ·  April –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00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6A8"/>
                </a:solidFill>
                <a:latin typeface="Calibri"/>
              </a:rPr>
              <a:t>Mentor: Mr. Gaurav Patel   |   Team: Mr. Charchit Chauhan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What we'll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188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7451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60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46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31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Dataset &amp;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303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5 Customer Segments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989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Personalized 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188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188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Loyalty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8745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87451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Dashboard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560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560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Groq AI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246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246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931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931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Learning &amp; Reflection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617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Future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03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5303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6A8"/>
                </a:solidFill>
                <a:latin typeface="Calibri"/>
              </a:rPr>
              <a:t>Most mall owners rely on guesswork. Without data, marketing is expensive and ineffective.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5303520" cy="19659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64008" cy="196596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74E"/>
                </a:solidFill>
                <a:latin typeface="Calibri"/>
              </a:rPr>
              <a:t>Generic Promotions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One-size-fits-all campaigns don't resonate — customers want relevance, not spam.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74519"/>
            <a:ext cx="5303520" cy="19659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74519"/>
            <a:ext cx="64008" cy="196596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756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74E"/>
                </a:solidFill>
                <a:latin typeface="Calibri"/>
              </a:rPr>
              <a:t>Low Customer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60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Without personalization, buyers disengage and move to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69079"/>
            <a:ext cx="5303520" cy="19659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69079"/>
            <a:ext cx="64008" cy="196596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7024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74E"/>
                </a:solidFill>
                <a:latin typeface="Calibri"/>
              </a:rPr>
              <a:t>Wasted Marketing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54879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Untargeted spend burns money. ROI suffers when there's no segment strategy.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069079"/>
            <a:ext cx="5303520" cy="19659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069079"/>
            <a:ext cx="64008" cy="196596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27024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74E"/>
                </a:solidFill>
                <a:latin typeface="Calibri"/>
              </a:rPr>
              <a:t>No View of High-Value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754879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Identifying VIP or at-risk customers is pure guesswork without ML.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3A4A"/>
                </a:solidFill>
                <a:latin typeface="Calibri"/>
              </a:rPr>
              <a:t>SmartSeg is an end-to-end retail intelligence platform that uses Machine Learning
to understand customer behavior and drive personalized marketing.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2057400" cy="1554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20574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74E"/>
                </a:solidFill>
                <a:latin typeface="Calibri"/>
              </a:rPr>
              <a:t>K-Means
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Core 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331720"/>
            <a:ext cx="2057400" cy="1554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20574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48716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74E"/>
                </a:solidFill>
                <a:latin typeface="Calibri"/>
              </a:rPr>
              <a:t>5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546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Defined clearly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331720"/>
            <a:ext cx="2057400" cy="1554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2331720"/>
            <a:ext cx="20574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48716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74E"/>
                </a:solidFill>
                <a:latin typeface="Calibri"/>
              </a:rPr>
              <a:t>Gamified
Loyalty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1546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Tier rewards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2331720"/>
            <a:ext cx="2057400" cy="1554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2331720"/>
            <a:ext cx="20574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48716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74E"/>
                </a:solidFill>
                <a:latin typeface="Calibri"/>
              </a:rPr>
              <a:t>Groq AI
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1546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Natural 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331720"/>
            <a:ext cx="2057400" cy="1554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331720"/>
            <a:ext cx="20574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48716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74E"/>
                </a:solidFill>
                <a:latin typeface="Calibri"/>
              </a:rPr>
              <a:t>Streamlit
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1546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7 interactive tabs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1480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A8"/>
                </a:solidFill>
                <a:latin typeface="Calibri"/>
              </a:rPr>
              <a:t>Period: April – June 2026   |   Organisation: SURE Trust – IERY   |   Domain: AI &amp;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A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645920"/>
            <a:ext cx="996696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188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Perform accurate customer segmentation using K-Means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A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560320"/>
            <a:ext cx="996696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1031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Build a dynamic personalized offer recommendation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A"/>
                </a:solidFill>
                <a:latin typeface="Calibr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3474720"/>
            <a:ext cx="996696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0175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Implement a gamified loyalty program with Bronze → Silver → Gold tiers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A"/>
                </a:solidFill>
                <a:latin typeface="Calibri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4389120"/>
            <a:ext cx="996696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9319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Create an interactive Streamlit dashboard with real-time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A"/>
                </a:solidFill>
                <a:latin typeface="Calibri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5303520"/>
            <a:ext cx="996696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8463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Integrate Groq AI for natural language business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A"/>
                </a:solidFill>
                <a:latin typeface="Calibri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6217920"/>
            <a:ext cx="996696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5760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Support CSV file upload and MySQL database as data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10515600" cy="18288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651760" cy="2148840"/>
          </a:xfrm>
          <a:prstGeom prst="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2651760" cy="64008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Python 3.13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8728" y="1234440"/>
            <a:ext cx="2651760" cy="2148840"/>
          </a:xfrm>
          <a:prstGeom prst="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38728" y="1234440"/>
            <a:ext cx="2651760" cy="64008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14904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148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Web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91656" y="1234440"/>
            <a:ext cx="2651760" cy="2148840"/>
          </a:xfrm>
          <a:prstGeom prst="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91656" y="1234440"/>
            <a:ext cx="2651760" cy="64008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4904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148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K-Means / Scaler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4584" y="1234440"/>
            <a:ext cx="2651760" cy="2148840"/>
          </a:xfrm>
          <a:prstGeom prst="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44584" y="1234440"/>
            <a:ext cx="2651760" cy="64008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4" y="14904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Pandas &amp; 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148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Data Processing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2651760" cy="2148840"/>
          </a:xfrm>
          <a:prstGeom prst="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2651760" cy="64008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593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Plotly Express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17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Visualisation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8728" y="3703320"/>
            <a:ext cx="2651760" cy="2148840"/>
          </a:xfrm>
          <a:prstGeom prst="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38728" y="3703320"/>
            <a:ext cx="2651760" cy="64008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8" y="39593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Groq (LLaMA 3.3)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8" y="4617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AI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1656" y="3703320"/>
            <a:ext cx="2651760" cy="2148840"/>
          </a:xfrm>
          <a:prstGeom prst="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91656" y="3703320"/>
            <a:ext cx="2651760" cy="64008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39593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MySQL · Railway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4617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Database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44584" y="3703320"/>
            <a:ext cx="2651760" cy="2148840"/>
          </a:xfrm>
          <a:prstGeom prst="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44584" y="3703320"/>
            <a:ext cx="2651760" cy="64008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81744" y="39593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Git &amp;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4617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Version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Dataset &amp;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A"/>
                </a:solidFill>
                <a:latin typeface="Calibri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74E"/>
                </a:solidFill>
                <a:latin typeface="Calibri"/>
              </a:rPr>
              <a:t>Shopping Trends Dataset — Kaggle (public)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~3,900 customer records across seasons, categories and demographics. No primary data collected — entirely open-source.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A"/>
                </a:solidFill>
                <a:latin typeface="Calibri"/>
              </a:rP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74E"/>
                </a:solidFill>
                <a:latin typeface="Calibri"/>
              </a:rPr>
              <a:t>3,900+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971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A"/>
                </a:solidFill>
                <a:latin typeface="Calibri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3375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6B35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Key Features Used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600200"/>
            <a:ext cx="224028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691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600200"/>
            <a:ext cx="224028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691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Gender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350008"/>
            <a:ext cx="224028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441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Category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2350008"/>
            <a:ext cx="224028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441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Purchase Amount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099815"/>
            <a:ext cx="224028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1912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Previous Purchases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3099815"/>
            <a:ext cx="224028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1912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Review Rating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849624"/>
            <a:ext cx="224028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941063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Season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3849624"/>
            <a:ext cx="224028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3941063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Payment 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19" y="1188720"/>
            <a:ext cx="640080" cy="64008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2070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472184"/>
            <a:ext cx="640080" cy="27432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74E"/>
                </a:solidFill>
                <a:latin typeface="Calibri"/>
              </a:rPr>
              <a:t>Data Prep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Load, clean &amp; explore the Shopping Trends dataset</a:t>
            </a:r>
          </a:p>
        </p:txBody>
      </p:sp>
      <p:sp>
        <p:nvSpPr>
          <p:cNvPr id="10" name="Oval 9"/>
          <p:cNvSpPr/>
          <p:nvPr/>
        </p:nvSpPr>
        <p:spPr>
          <a:xfrm>
            <a:off x="3108960" y="1188720"/>
            <a:ext cx="640080" cy="64008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2070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1472184"/>
            <a:ext cx="640080" cy="27432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39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74E"/>
                </a:solidFill>
                <a:latin typeface="Calibri"/>
              </a:rPr>
              <a:t>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254203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Scale features with StandardScaler for clustering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0" y="1188720"/>
            <a:ext cx="640080" cy="64008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2070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1472184"/>
            <a:ext cx="640080" cy="27432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74E"/>
                </a:solidFill>
                <a:latin typeface="Calibri"/>
              </a:rPr>
              <a:t>K-Means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54203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Segment customers into 5 distinct groups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0" y="1188720"/>
            <a:ext cx="640080" cy="64008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12070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472184"/>
            <a:ext cx="640080" cy="27432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74E"/>
                </a:solidFill>
                <a:latin typeface="Calibri"/>
              </a:rPr>
              <a:t>Business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54203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Loyalty points calculation &amp; offer engine</a:t>
            </a:r>
          </a:p>
        </p:txBody>
      </p:sp>
      <p:sp>
        <p:nvSpPr>
          <p:cNvPr id="25" name="Oval 24"/>
          <p:cNvSpPr/>
          <p:nvPr/>
        </p:nvSpPr>
        <p:spPr>
          <a:xfrm>
            <a:off x="8869680" y="1188720"/>
            <a:ext cx="640080" cy="64008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12070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1472184"/>
            <a:ext cx="640080" cy="27432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74E"/>
                </a:solidFill>
                <a:latin typeface="Calibri"/>
              </a:rPr>
              <a:t>AI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54203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Groq API for natural language business Q&amp;A</a:t>
            </a:r>
          </a:p>
        </p:txBody>
      </p:sp>
      <p:sp>
        <p:nvSpPr>
          <p:cNvPr id="30" name="Oval 29"/>
          <p:cNvSpPr/>
          <p:nvPr/>
        </p:nvSpPr>
        <p:spPr>
          <a:xfrm>
            <a:off x="10789919" y="1188720"/>
            <a:ext cx="640080" cy="64008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19" y="12070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74E"/>
                </a:solidFill>
                <a:latin typeface="Calibri"/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54203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A8"/>
                </a:solidFill>
                <a:latin typeface="Calibri"/>
              </a:rPr>
              <a:t>7-tab Streamlit UI for all insights and actions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794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E"/>
                </a:solidFill>
                <a:latin typeface="Calibri"/>
              </a:rPr>
              <a:t>System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297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Data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09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6A8"/>
                </a:solidFill>
                <a:latin typeface="Calibri"/>
              </a:rPr>
              <a:t>CSV / MySQL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389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6A8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297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4709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6A8"/>
                </a:solidFill>
                <a:latin typeface="Calibri"/>
              </a:rPr>
              <a:t>Preprocess + KMeans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4389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6A8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297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Business Logic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709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6A8"/>
                </a:solidFill>
                <a:latin typeface="Calibri"/>
              </a:rPr>
              <a:t>Loyalty + Offers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389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6A8"/>
                </a:solidFill>
                <a:latin typeface="Calibr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297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AI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709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6A8"/>
                </a:solidFill>
                <a:latin typeface="Calibri"/>
              </a:rPr>
              <a:t>Groq Chat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4389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6A8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297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Presentation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709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6A8"/>
                </a:solidFill>
                <a:latin typeface="Calibri"/>
              </a:rPr>
              <a:t>Streamlit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04120" y="4389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6A8"/>
                </a:solidFill>
                <a:latin typeface="Calibr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4297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4709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6A8"/>
                </a:solidFill>
                <a:latin typeface="Calibri"/>
              </a:rPr>
              <a:t>Reports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5 Customer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10515600" cy="18288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54864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61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VIP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30759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8"/>
                </a:solidFill>
                <a:latin typeface="Calibri"/>
              </a:rPr>
              <a:t>High spenders, frequent buyers, top review ratings. Give them exclusive treatment.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10515600" cy="13716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54864" cy="77724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5915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68A"/>
                </a:solidFill>
                <a:latin typeface="Calibri"/>
              </a:rPr>
              <a:t>Loyal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048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8"/>
                </a:solidFill>
                <a:latin typeface="Calibri"/>
              </a:rPr>
              <a:t>Regular buyers with consistent engagement. Recognise and reward their loyalty.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00400"/>
            <a:ext cx="10515600" cy="13716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29000"/>
            <a:ext cx="54864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  <a:latin typeface="Calibri"/>
              </a:rPr>
              <a:t>New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5021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8"/>
                </a:solidFill>
                <a:latin typeface="Calibri"/>
              </a:rPr>
              <a:t>First-time or recent shoppers. Convert them with a great onboarding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97680"/>
            <a:ext cx="10515600" cy="13716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526279"/>
            <a:ext cx="54864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537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At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599431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8"/>
                </a:solidFill>
                <a:latin typeface="Calibri"/>
              </a:rPr>
              <a:t>Once-active customers slowly fading. Win them back with targeted re-engagement.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394959"/>
            <a:ext cx="10515600" cy="13716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623560"/>
            <a:ext cx="54864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509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5350"/>
                </a:solidFill>
                <a:latin typeface="Calibri"/>
              </a:rPr>
              <a:t>Hibernating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69671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8"/>
                </a:solidFill>
                <a:latin typeface="Calibri"/>
              </a:rPr>
              <a:t>Long-inactive. Need a strong reason to return — bold re-activation offers help.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492240"/>
            <a:ext cx="10515600" cy="13716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Personalized Offer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6A8"/>
                </a:solidFill>
                <a:latin typeface="Calibri"/>
              </a:rPr>
              <a:t>Each segment receives unique, relevant offers — not generic promotions.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606040" cy="4572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60604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74E"/>
                </a:solidFill>
                <a:latin typeface="Calibri"/>
              </a:rPr>
              <a:t>VIP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23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Exclusive VIP lounge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11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Early access to new arrivals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800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Personal shopping concierge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1600200"/>
            <a:ext cx="2606040" cy="4572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1600200"/>
            <a:ext cx="2606040" cy="64008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8105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74E"/>
                </a:solidFill>
                <a:latin typeface="Calibri"/>
              </a:rPr>
              <a:t>Loyal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423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Double points weekends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3611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Member-only flash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4800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Birthday reward surprises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1600200"/>
            <a:ext cx="2606040" cy="4572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5936" y="1600200"/>
            <a:ext cx="2606040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8105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74E"/>
                </a:solidFill>
                <a:latin typeface="Calibri"/>
              </a:rPr>
              <a:t>New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423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Welcome 20% discount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611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Free gift on first purchase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4800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Guided onboarding offers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3" y="1600200"/>
            <a:ext cx="2606040" cy="4572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3" y="1600200"/>
            <a:ext cx="260604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3" y="18105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74E"/>
                </a:solidFill>
                <a:latin typeface="Calibri"/>
              </a:rPr>
              <a:t>At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3" y="2423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Come-back 30% coupon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3" y="3611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Personalised 'We Miss You'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3" y="4800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—  Limited-time bundle deals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Gamified Loyalty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606040" cy="4389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606040" cy="6400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508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0826D"/>
                </a:solidFill>
                <a:latin typeface="Calibri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084831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0 – 499 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560320"/>
            <a:ext cx="214884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2491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✓  Welcome 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0215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✓  Basic member perks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1371600"/>
            <a:ext cx="2606040" cy="4389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1371600"/>
            <a:ext cx="2606040" cy="64008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508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D7F32"/>
                </a:solidFill>
                <a:latin typeface="Calibri"/>
              </a:rPr>
              <a:t>Bronze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084831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500 – 999 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2560320"/>
            <a:ext cx="214884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8" y="272491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✓  5% cashback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50215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✓  Birthday bonus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45936" y="1371600"/>
            <a:ext cx="2606040" cy="4389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371600"/>
            <a:ext cx="2606040" cy="64008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1508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09090"/>
                </a:solidFill>
                <a:latin typeface="Calibri"/>
              </a:rPr>
              <a:t>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084831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1000 – 1999 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74536" y="2560320"/>
            <a:ext cx="214884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272491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✓  10% cashback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350215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✓  Priority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98863" y="1371600"/>
            <a:ext cx="2606040" cy="4389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98863" y="1371600"/>
            <a:ext cx="260604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3" y="1508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Calibri"/>
              </a:rPr>
              <a:t>Gold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3" y="2084831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2000+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27463" y="2560320"/>
            <a:ext cx="214884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27463" y="272491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✓  20% cashback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3" y="350215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✓  VIP lounge &amp; exclusives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6A8"/>
                </a:solidFill>
                <a:latin typeface="Calibri"/>
              </a:rPr>
              <a:t>Points earned per purchase  ·  Progress bars track tier advancement  ·  Rewards redeemable at checkout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Streamlit Dashboard — 7 Tabs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1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143000"/>
            <a:ext cx="457200" cy="45720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612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1338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612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Key metrics, total sales, customer count, trends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1755648"/>
            <a:ext cx="10332720" cy="13716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019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2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947672"/>
            <a:ext cx="457200" cy="45720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659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9385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K-Means cluster scatter plots &amp; segment breakdown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2560320"/>
            <a:ext cx="10332720" cy="13716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0662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3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2752344"/>
            <a:ext cx="457200" cy="45720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706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Offer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7063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Personalised recommendations per customer segment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3364991"/>
            <a:ext cx="10332720" cy="13716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1129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4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3557015"/>
            <a:ext cx="457200" cy="45720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575303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5478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575303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Business analytics powered by MySQL queries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34440" y="4169663"/>
            <a:ext cx="10332720" cy="13716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159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5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" y="4361688"/>
            <a:ext cx="457200" cy="45720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37997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3525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Loyalty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37997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Tier distribution, progress bars, rewards 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440" y="4974336"/>
            <a:ext cx="10332720" cy="13716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206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6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" y="5166360"/>
            <a:ext cx="457200" cy="45720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18464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1572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Groq AI Chat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18464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Ask business questions in plain English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440" y="5779008"/>
            <a:ext cx="10332720" cy="13716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9253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7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" y="5971032"/>
            <a:ext cx="457200" cy="45720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9893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961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Data Explorer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989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Full dataset, filters, CSV or SQL input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Groq AI Chat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6A8"/>
                </a:solidFill>
                <a:latin typeface="Calibri"/>
              </a:rPr>
              <a:t>Powered by LLaMA 3.3-70B — mall owners ask questions in plain English, get instant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515600" cy="18288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10515600" cy="1024128"/>
          </a:xfrm>
          <a:prstGeom prst="rect">
            <a:avLst/>
          </a:prstGeom>
          <a:solidFill>
            <a:srgbClr val="1F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D8"/>
                </a:solidFill>
                <a:latin typeface="Calibri"/>
              </a:rPr>
              <a:t>Q  Which segment has the highest average purchase?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048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8"/>
                </a:solidFill>
                <a:latin typeface="Calibri"/>
              </a:rPr>
              <a:t>A  VIP Customers — averaging $87.3 per transaction with the highest spend frequency.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63239"/>
            <a:ext cx="10515600" cy="1024128"/>
          </a:xfrm>
          <a:prstGeom prst="rect">
            <a:avLst/>
          </a:prstGeom>
          <a:solidFill>
            <a:srgbClr val="1F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7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D8"/>
                </a:solidFill>
                <a:latin typeface="Calibri"/>
              </a:rPr>
              <a:t>Q  What are the top-selling categories this season?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93591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8"/>
                </a:solidFill>
                <a:latin typeface="Calibri"/>
              </a:rPr>
              <a:t>A  Clothing leads at 38% of total sales, followed by Accessories at 22%.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51960"/>
            <a:ext cx="10515600" cy="1024128"/>
          </a:xfrm>
          <a:prstGeom prst="rect">
            <a:avLst/>
          </a:prstGeom>
          <a:solidFill>
            <a:srgbClr val="1F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D8"/>
                </a:solidFill>
                <a:latin typeface="Calibri"/>
              </a:rPr>
              <a:t>Q  How many customers are at risk of churning?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823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8"/>
                </a:solidFill>
                <a:latin typeface="Calibri"/>
              </a:rPr>
              <a:t>A  412 customers are classified At Risk — a targeted campaign is recommended now.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440680"/>
            <a:ext cx="10515600" cy="1024128"/>
          </a:xfrm>
          <a:prstGeom prst="rect">
            <a:avLst/>
          </a:prstGeom>
          <a:solidFill>
            <a:srgbClr val="1F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D8"/>
                </a:solidFill>
                <a:latin typeface="Calibri"/>
              </a:rPr>
              <a:t>Q  Which loyalty tier has the most customers?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710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8"/>
                </a:solidFill>
                <a:latin typeface="Calibri"/>
              </a:rPr>
              <a:t>A  Bronze tier is the largest, with 1,180 customers currently enrolled.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Results &amp; Key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968A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6A8"/>
                </a:solidFill>
                <a:latin typeface="Calibri"/>
              </a:rPr>
              <a:t>Customer
Segments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1887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968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94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6A8"/>
                </a:solidFill>
                <a:latin typeface="Calibri"/>
              </a:rPr>
              <a:t>Dashboard
Tabs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968A"/>
                </a:solidFill>
                <a:latin typeface="Calibri"/>
              </a:rPr>
              <a:t>3,900+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6A8"/>
                </a:solidFill>
                <a:latin typeface="Calibri"/>
              </a:rPr>
              <a:t>Records
Processed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1887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968A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94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6A8"/>
                </a:solidFill>
                <a:latin typeface="Calibri"/>
              </a:rPr>
              <a:t>Loyalty
Tiers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91839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Customer segmentation into 5 actionable groups with clear business 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291839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Dynamic personalized offers generated for each segment automatically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25112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70831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Functional gamified loyalty program — Starter, Bronze, Silver, Gold with progress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25112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370831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Working Groq AI assistant answering domain-specific retail business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04104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44982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MySQL integration with Railway Cloud for persistent, real-world data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404104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544982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Full project documented on GitHub with live demonstration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Learning &amp; Reflection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74E"/>
                </a:solidFill>
                <a:latin typeface="Calibri"/>
              </a:rPr>
              <a:t>Technical Skills Gained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K-Means Clustering &amp; unsupervised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Feature engineering with StandardScaler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2549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Building Streamlit dashboards (tabs, state, caching)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3814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Interactive charts with Plotly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50791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Groq AI API integration — LLaMA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MySQL database with cloud hosting (Railway)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7608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Git &amp; GitHub for project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18288" cy="50292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74E"/>
                </a:solidFill>
                <a:latin typeface="Calibri"/>
              </a:rPr>
              <a:t>Soft Skills &amp; Mindset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Project planning &amp; modular thinking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Professional documentation 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Debugging under pressure (MySQL + Groq)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–  Explaining tech to non-technical stakeholders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86400"/>
            <a:ext cx="10515600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486400"/>
            <a:ext cx="64008" cy="100584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Key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9436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D3A4A"/>
                </a:solidFill>
                <a:latin typeface="Calibri"/>
              </a:rPr>
              <a:t>"Technology becomes truly powerful when applied to real-life problems to deliver genuine value."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74E"/>
                </a:solidFill>
                <a:latin typeface="Calibri"/>
              </a:rP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286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01  Advanced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Collaborative filtering &amp; deep learning for product-level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59152"/>
            <a:ext cx="530352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02  Real-time 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1645920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Live segmentation at point-of-sale for instant personalised offers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359152"/>
            <a:ext cx="530352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03  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Android &amp; iOS apps — loyalty tracking, rewards, push notifications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12464"/>
            <a:ext cx="530352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420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04  Predictive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999232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Customer churn prediction &amp; CLV (lifetime value) forecasting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712464"/>
            <a:ext cx="530352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9534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05  Cloud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52544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AWS / GCP with authentication, scalability and security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65776"/>
            <a:ext cx="530352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89534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06  Multi-language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352544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Regional Indian language support for wider accessibility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5065776"/>
            <a:ext cx="530352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486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07  Enhanced Loyalty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5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Payment gateway integration &amp; tier-based redemptions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19088"/>
            <a:ext cx="530352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2486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08  Security &amp;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5705855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A4A"/>
                </a:solidFill>
                <a:latin typeface="Calibri"/>
              </a:rPr>
              <a:t>Role-based access control for large retail chain deployments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6419088"/>
            <a:ext cx="5303520" cy="18288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10515600" cy="18288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34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8E8"/>
                </a:solidFill>
                <a:latin typeface="Calibri"/>
              </a:rPr>
              <a:t>SmartSeg successfully built a complete end-to-end retail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842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8E8"/>
                </a:solidFill>
                <a:latin typeface="Calibri"/>
              </a:rPr>
              <a:t>K-Means clustering produced 5 clear, actionable customer 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34056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8E8"/>
                </a:solidFill>
                <a:latin typeface="Calibri"/>
              </a:rPr>
              <a:t>Personalized offers, loyalty tiers &amp; Groq AI chat are fully operational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8386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8E8"/>
                </a:solidFill>
                <a:latin typeface="Calibri"/>
              </a:rPr>
              <a:t>The system gives mall owners real tools — not just reports, but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879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A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3367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8E8"/>
                </a:solidFill>
                <a:latin typeface="Calibri"/>
              </a:rPr>
              <a:t>ML + AI can genuinely solve everyday retail problems when applied thoughtfully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074920"/>
            <a:ext cx="10515600" cy="22860"/>
          </a:xfrm>
          <a:prstGeom prst="rect">
            <a:avLst/>
          </a:prstGeom>
          <a:solidFill>
            <a:srgbClr val="28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5780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968A"/>
                </a:solidFill>
                <a:latin typeface="Calibri"/>
              </a:rPr>
              <a:t>Thank You!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172200"/>
            <a:ext cx="10515600" cy="50292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23620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A8"/>
                </a:solidFill>
                <a:latin typeface="Calibri"/>
              </a:rPr>
              <a:t>github.com/charchit-chauhan/SmartSeg   ·   Mentor: Mr. Gaurav Patel   ·   SURE Trust – IERY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